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Impacto de la IA en la Privacidad y los derechos fundamentales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Una </a:t>
            </a:r>
            <a:r>
              <a:rPr dirty="0" err="1"/>
              <a:t>síntesis</a:t>
            </a:r>
            <a:r>
              <a:rPr dirty="0"/>
              <a:t> de la </a:t>
            </a:r>
            <a:r>
              <a:rPr dirty="0" err="1"/>
              <a:t>jurisprudencia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y </a:t>
            </a:r>
            <a:r>
              <a:rPr dirty="0" err="1"/>
              <a:t>europea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un </a:t>
            </a:r>
            <a:r>
              <a:rPr dirty="0" err="1"/>
              <a:t>marco</a:t>
            </a:r>
            <a:r>
              <a:rPr dirty="0"/>
              <a:t> de </a:t>
            </a:r>
            <a:r>
              <a:rPr dirty="0" err="1"/>
              <a:t>gobernanza</a:t>
            </a:r>
            <a:r>
              <a:rPr dirty="0"/>
              <a:t> </a:t>
            </a:r>
            <a:r>
              <a:rPr dirty="0" err="1"/>
              <a:t>universitaria</a:t>
            </a:r>
            <a:endParaRPr lang="es-ES" dirty="0"/>
          </a:p>
          <a:p>
            <a:endParaRPr lang="es-ES" dirty="0"/>
          </a:p>
          <a:p>
            <a:pPr algn="r"/>
            <a:r>
              <a:rPr lang="es-ES" dirty="0"/>
              <a:t>José Traver Ardura</a:t>
            </a:r>
          </a:p>
          <a:p>
            <a:pPr algn="r"/>
            <a:r>
              <a:rPr lang="es-ES" dirty="0"/>
              <a:t>Universitat Jaume I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El </a:t>
            </a:r>
            <a:r>
              <a:rPr dirty="0" err="1"/>
              <a:t>propósito</a:t>
            </a:r>
            <a:r>
              <a:rPr dirty="0"/>
              <a:t> central de la </a:t>
            </a:r>
            <a:r>
              <a:rPr dirty="0" err="1"/>
              <a:t>tesis</a:t>
            </a:r>
            <a:r>
              <a:rPr dirty="0"/>
              <a:t> es </a:t>
            </a:r>
            <a:r>
              <a:rPr dirty="0" err="1"/>
              <a:t>detectar</a:t>
            </a:r>
            <a:r>
              <a:rPr dirty="0"/>
              <a:t> y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supone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técnicas</a:t>
            </a:r>
            <a:r>
              <a:rPr dirty="0"/>
              <a:t> de IA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actividades</a:t>
            </a:r>
            <a:r>
              <a:rPr dirty="0"/>
              <a:t> de las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 </a:t>
            </a:r>
            <a:r>
              <a:rPr dirty="0" err="1"/>
              <a:t>españolas</a:t>
            </a:r>
            <a:r>
              <a:rPr dirty="0"/>
              <a:t>, </a:t>
            </a:r>
            <a:r>
              <a:rPr dirty="0" err="1"/>
              <a:t>evaluando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derechos </a:t>
            </a:r>
            <a:r>
              <a:rPr dirty="0" err="1"/>
              <a:t>fundamentales</a:t>
            </a:r>
            <a:r>
              <a:rPr dirty="0"/>
              <a:t> y la </a:t>
            </a:r>
            <a:r>
              <a:rPr dirty="0" err="1"/>
              <a:t>privacidad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marco</a:t>
            </a:r>
            <a:r>
              <a:rPr dirty="0"/>
              <a:t> legal </a:t>
            </a:r>
            <a:r>
              <a:rPr dirty="0" err="1"/>
              <a:t>aplicable</a:t>
            </a:r>
            <a:r>
              <a:rPr dirty="0"/>
              <a:t> y las </a:t>
            </a:r>
            <a:r>
              <a:rPr dirty="0" err="1"/>
              <a:t>interpretaciones</a:t>
            </a:r>
            <a:r>
              <a:rPr dirty="0"/>
              <a:t> </a:t>
            </a:r>
            <a:r>
              <a:rPr dirty="0" err="1"/>
              <a:t>jurisprudenciales</a:t>
            </a:r>
            <a:r>
              <a:rPr dirty="0"/>
              <a:t> </a:t>
            </a:r>
            <a:r>
              <a:rPr dirty="0" err="1"/>
              <a:t>vigentes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 err="1"/>
              <a:t>Evaluar</a:t>
            </a:r>
            <a:r>
              <a:rPr dirty="0"/>
              <a:t> la </a:t>
            </a:r>
            <a:r>
              <a:rPr dirty="0" err="1"/>
              <a:t>cobertura</a:t>
            </a:r>
            <a:r>
              <a:rPr dirty="0"/>
              <a:t> legal actual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inherentes</a:t>
            </a:r>
            <a:r>
              <a:rPr dirty="0"/>
              <a:t> de la </a:t>
            </a:r>
            <a:r>
              <a:rPr dirty="0" err="1"/>
              <a:t>tecnología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 err="1"/>
              <a:t>Definir</a:t>
            </a:r>
            <a:r>
              <a:rPr dirty="0"/>
              <a:t> un </a:t>
            </a:r>
            <a:r>
              <a:rPr dirty="0" err="1"/>
              <a:t>marco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razonable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garantice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cumplimiento</a:t>
            </a:r>
            <a:r>
              <a:rPr dirty="0"/>
              <a:t> </a:t>
            </a:r>
            <a:r>
              <a:rPr dirty="0" err="1"/>
              <a:t>normativo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universitario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La </a:t>
            </a:r>
            <a:r>
              <a:rPr dirty="0" err="1"/>
              <a:t>investigación</a:t>
            </a:r>
            <a:r>
              <a:rPr dirty="0"/>
              <a:t> </a:t>
            </a:r>
            <a:r>
              <a:rPr dirty="0" err="1"/>
              <a:t>adopta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metodología</a:t>
            </a:r>
            <a:r>
              <a:rPr dirty="0"/>
              <a:t> </a:t>
            </a:r>
            <a:r>
              <a:rPr dirty="0" err="1"/>
              <a:t>jurídica</a:t>
            </a:r>
            <a:r>
              <a:rPr dirty="0"/>
              <a:t> con </a:t>
            </a:r>
            <a:r>
              <a:rPr dirty="0" err="1"/>
              <a:t>visión</a:t>
            </a:r>
            <a:r>
              <a:rPr dirty="0"/>
              <a:t> </a:t>
            </a:r>
            <a:r>
              <a:rPr dirty="0" err="1"/>
              <a:t>multinivel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Normativo</a:t>
            </a:r>
            <a:r>
              <a:rPr dirty="0"/>
              <a:t>: Estudio de la Constitución Española,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Reglamento</a:t>
            </a:r>
            <a:r>
              <a:rPr dirty="0"/>
              <a:t> General de </a:t>
            </a:r>
            <a:r>
              <a:rPr dirty="0" err="1"/>
              <a:t>Protección</a:t>
            </a:r>
            <a:r>
              <a:rPr dirty="0"/>
              <a:t> de Datos (RGPD), la LOPDGDD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reciente</a:t>
            </a:r>
            <a:r>
              <a:rPr dirty="0"/>
              <a:t> </a:t>
            </a:r>
            <a:r>
              <a:rPr dirty="0" err="1"/>
              <a:t>Reglamento</a:t>
            </a:r>
            <a:r>
              <a:rPr dirty="0"/>
              <a:t> de IA.</a:t>
            </a:r>
          </a:p>
          <a:p>
            <a:pPr lvl="1">
              <a:defRPr sz="1800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Jurisprudencial</a:t>
            </a:r>
            <a:r>
              <a:rPr dirty="0"/>
              <a:t>: Examen </a:t>
            </a:r>
            <a:r>
              <a:rPr dirty="0" err="1"/>
              <a:t>sistemático</a:t>
            </a:r>
            <a:r>
              <a:rPr dirty="0"/>
              <a:t> de </a:t>
            </a:r>
            <a:r>
              <a:rPr dirty="0" err="1"/>
              <a:t>sentencias</a:t>
            </a:r>
            <a:r>
              <a:rPr dirty="0"/>
              <a:t> del TEDH, TJUE, Tribunal Supremo, Audiencia Nacional y Tribunal </a:t>
            </a:r>
            <a:r>
              <a:rPr dirty="0" err="1"/>
              <a:t>Constitucional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</a:t>
            </a:r>
            <a:r>
              <a:rPr dirty="0" err="1"/>
              <a:t>descriptores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"</a:t>
            </a:r>
            <a:r>
              <a:rPr dirty="0" err="1"/>
              <a:t>algoritmo</a:t>
            </a:r>
            <a:r>
              <a:rPr dirty="0"/>
              <a:t>", "redes </a:t>
            </a:r>
            <a:r>
              <a:rPr dirty="0" err="1"/>
              <a:t>neuronales</a:t>
            </a:r>
            <a:r>
              <a:rPr dirty="0"/>
              <a:t>" y "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".</a:t>
            </a:r>
          </a:p>
          <a:p>
            <a:pPr lvl="1">
              <a:defRPr sz="1800"/>
            </a:pPr>
            <a:r>
              <a:rPr dirty="0"/>
              <a:t>Estudio de Casos de Uso: </a:t>
            </a:r>
            <a:r>
              <a:rPr dirty="0" err="1"/>
              <a:t>Recopilación</a:t>
            </a:r>
            <a:r>
              <a:rPr dirty="0"/>
              <a:t> de </a:t>
            </a:r>
            <a:r>
              <a:rPr dirty="0" err="1"/>
              <a:t>prácticas</a:t>
            </a:r>
            <a:r>
              <a:rPr dirty="0"/>
              <a:t> reales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españolas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 la CRUE, CSIC, etc. y </a:t>
            </a:r>
            <a:r>
              <a:rPr dirty="0" err="1"/>
              <a:t>organismos</a:t>
            </a:r>
            <a:r>
              <a:rPr dirty="0"/>
              <a:t> de </a:t>
            </a:r>
            <a:r>
              <a:rPr dirty="0" err="1"/>
              <a:t>protección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transparencia</a:t>
            </a:r>
            <a:r>
              <a:rPr dirty="0"/>
              <a:t> (AEPD, CTBG, etc.) para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brechas</a:t>
            </a:r>
            <a:r>
              <a:rPr dirty="0"/>
              <a:t> entre la </a:t>
            </a:r>
            <a:r>
              <a:rPr dirty="0" err="1"/>
              <a:t>teoría</a:t>
            </a:r>
            <a:r>
              <a:rPr dirty="0"/>
              <a:t> legal y la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administrativa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 err="1"/>
              <a:t>Doctrina</a:t>
            </a:r>
            <a:r>
              <a:rPr dirty="0"/>
              <a:t> </a:t>
            </a:r>
            <a:r>
              <a:rPr dirty="0" err="1"/>
              <a:t>académica</a:t>
            </a:r>
            <a:r>
              <a:rPr dirty="0"/>
              <a:t>: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opiniones</a:t>
            </a:r>
            <a:r>
              <a:rPr dirty="0"/>
              <a:t> y </a:t>
            </a:r>
            <a:r>
              <a:rPr dirty="0" err="1"/>
              <a:t>artículos</a:t>
            </a:r>
            <a:r>
              <a:rPr dirty="0"/>
              <a:t> de personas </a:t>
            </a:r>
            <a:r>
              <a:rPr dirty="0" err="1"/>
              <a:t>expertas</a:t>
            </a:r>
            <a:r>
              <a:rPr dirty="0"/>
              <a:t> para </a:t>
            </a:r>
            <a:r>
              <a:rPr dirty="0" err="1"/>
              <a:t>priorizar</a:t>
            </a:r>
            <a:r>
              <a:rPr dirty="0"/>
              <a:t> y </a:t>
            </a:r>
            <a:r>
              <a:rPr dirty="0" err="1"/>
              <a:t>matizar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hallazgos</a:t>
            </a:r>
            <a:r>
              <a:rPr dirty="0"/>
              <a:t> </a:t>
            </a:r>
            <a:r>
              <a:rPr dirty="0" err="1"/>
              <a:t>obtenidos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la Inteligencia Artificial (IA)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La IA se presenta como el avance más disruptivo en las tecnologías de la información de los últimos años.</a:t>
            </a:r>
          </a:p>
          <a:p>
            <a:pPr>
              <a:defRPr sz="1800"/>
            </a:pPr>
            <a:r>
              <a:t>Evolución Histórica: Aunque el término fue acuñado por John McCarthy en 1956, sus cimientos se remontan a 1943 con los modelos matemáticos de redes neuronales de McCulloch y Pitts.</a:t>
            </a:r>
          </a:p>
          <a:p>
            <a:pPr>
              <a:defRPr sz="1800"/>
            </a:pPr>
            <a:r>
              <a:t>Estado Actual: Tras periodos de escaso avance, la disponibilidad de alta potencia de cálculo ha permitido la eclosión del Deep Learning y la IA Generativa (IAG).</a:t>
            </a:r>
          </a:p>
          <a:p>
            <a:pPr>
              <a:defRPr sz="1800"/>
            </a:pPr>
            <a:r>
              <a:t>Riesgos Fundamentales: La tecnología no es inocua; plantea amenazas directas a la privacidad, la propiedad intelectual y el libre albedrío de los ciudadanos a través de sesgos y opacidad.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conflicto principal: eficiencia contra opacidad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La inteligencia artificial representa el avance más disruptivo desde la aparición de Internet. Se basa en la ingesta masiva de datos y la toma de decisiones automatizadas</a:t>
            </a:r>
          </a:p>
          <a:p>
            <a:pPr>
              <a:defRPr sz="1800"/>
            </a:pPr>
            <a:r>
              <a:t>El reto jurídico consiste en equilibrar esta potencia con el artículo 18 de la Constitución española, evitando que el libre albedrío quede supeditado a cajas negras no auditables.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por abordar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Objetivo</a:t>
            </a:r>
            <a:r>
              <a:rPr dirty="0"/>
              <a:t> de la </a:t>
            </a:r>
            <a:r>
              <a:rPr dirty="0" err="1"/>
              <a:t>tesis</a:t>
            </a:r>
            <a:r>
              <a:rPr dirty="0"/>
              <a:t>: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del </a:t>
            </a:r>
            <a:r>
              <a:rPr dirty="0" err="1"/>
              <a:t>uso</a:t>
            </a:r>
            <a:r>
              <a:rPr dirty="0"/>
              <a:t> de la IA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privacidad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derechos </a:t>
            </a:r>
            <a:r>
              <a:rPr dirty="0" err="1"/>
              <a:t>fundamentales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ámbitos</a:t>
            </a:r>
            <a:r>
              <a:rPr dirty="0"/>
              <a:t> de </a:t>
            </a:r>
            <a:r>
              <a:rPr dirty="0" err="1"/>
              <a:t>actuación</a:t>
            </a:r>
            <a:r>
              <a:rPr dirty="0"/>
              <a:t> de las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españolas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La </a:t>
            </a:r>
            <a:r>
              <a:rPr dirty="0" err="1"/>
              <a:t>adopción</a:t>
            </a:r>
            <a:r>
              <a:rPr dirty="0"/>
              <a:t> de la IA </a:t>
            </a:r>
            <a:r>
              <a:rPr dirty="0" err="1"/>
              <a:t>requiere</a:t>
            </a:r>
            <a:r>
              <a:rPr dirty="0"/>
              <a:t> un </a:t>
            </a:r>
            <a:r>
              <a:rPr dirty="0" err="1"/>
              <a:t>marco</a:t>
            </a:r>
            <a:r>
              <a:rPr dirty="0"/>
              <a:t> </a:t>
            </a:r>
            <a:r>
              <a:rPr dirty="0" err="1"/>
              <a:t>garantista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prevenga</a:t>
            </a:r>
            <a:r>
              <a:rPr dirty="0"/>
              <a:t> la </a:t>
            </a:r>
            <a:r>
              <a:rPr dirty="0" err="1"/>
              <a:t>vulneración</a:t>
            </a:r>
            <a:r>
              <a:rPr dirty="0"/>
              <a:t> de derechos del </a:t>
            </a:r>
            <a:r>
              <a:rPr dirty="0" err="1"/>
              <a:t>estudiantado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personal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trabaja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universidades</a:t>
            </a:r>
            <a:endParaRPr dirty="0"/>
          </a:p>
          <a:p>
            <a:pPr>
              <a:defRPr sz="1800"/>
            </a:pP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ejemplos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administrativa</a:t>
            </a:r>
            <a:r>
              <a:rPr dirty="0"/>
              <a:t>: Maneja </a:t>
            </a:r>
            <a:r>
              <a:rPr dirty="0" err="1"/>
              <a:t>volúmenes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sensibles</a:t>
            </a:r>
            <a:r>
              <a:rPr dirty="0"/>
              <a:t> para </a:t>
            </a:r>
            <a:r>
              <a:rPr dirty="0" err="1"/>
              <a:t>becas</a:t>
            </a:r>
            <a:r>
              <a:rPr dirty="0"/>
              <a:t>, </a:t>
            </a:r>
            <a:r>
              <a:rPr dirty="0" err="1"/>
              <a:t>admisiones</a:t>
            </a:r>
            <a:r>
              <a:rPr dirty="0"/>
              <a:t> y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humanos</a:t>
            </a:r>
            <a:endParaRPr dirty="0"/>
          </a:p>
          <a:p>
            <a:pPr lvl="1">
              <a:defRPr sz="1800"/>
            </a:pPr>
            <a:r>
              <a:rPr dirty="0" err="1"/>
              <a:t>Docencia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: Sistemas de proctoring y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algorítmica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dictan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 del </a:t>
            </a:r>
            <a:r>
              <a:rPr dirty="0" err="1"/>
              <a:t>estudiantado</a:t>
            </a:r>
            <a:endParaRPr dirty="0"/>
          </a:p>
          <a:p>
            <a:pPr lvl="1">
              <a:defRPr sz="1800"/>
            </a:pPr>
            <a:r>
              <a:rPr dirty="0" err="1"/>
              <a:t>Investigación</a:t>
            </a:r>
            <a:r>
              <a:rPr dirty="0"/>
              <a:t>: Alto 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ingestar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personales</a:t>
            </a:r>
            <a:r>
              <a:rPr dirty="0"/>
              <a:t> o </a:t>
            </a:r>
            <a:r>
              <a:rPr dirty="0" err="1"/>
              <a:t>protegidos</a:t>
            </a:r>
            <a:r>
              <a:rPr dirty="0"/>
              <a:t> sin </a:t>
            </a:r>
            <a:r>
              <a:rPr dirty="0" err="1"/>
              <a:t>consentimiento</a:t>
            </a:r>
            <a:r>
              <a:rPr dirty="0"/>
              <a:t> </a:t>
            </a:r>
            <a:r>
              <a:rPr dirty="0" err="1"/>
              <a:t>explícito</a:t>
            </a:r>
            <a:r>
              <a:rPr dirty="0"/>
              <a:t> para </a:t>
            </a:r>
            <a:r>
              <a:rPr dirty="0" err="1"/>
              <a:t>entrenar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normativa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Constitución </a:t>
            </a:r>
            <a:r>
              <a:rPr dirty="0" err="1"/>
              <a:t>española</a:t>
            </a:r>
            <a:r>
              <a:rPr dirty="0"/>
              <a:t>: </a:t>
            </a:r>
            <a:r>
              <a:rPr dirty="0" err="1"/>
              <a:t>Artículo</a:t>
            </a:r>
            <a:r>
              <a:rPr dirty="0"/>
              <a:t> 18 (</a:t>
            </a:r>
            <a:r>
              <a:rPr dirty="0" err="1"/>
              <a:t>protección</a:t>
            </a:r>
            <a:r>
              <a:rPr dirty="0"/>
              <a:t> </a:t>
            </a:r>
            <a:r>
              <a:rPr dirty="0" err="1"/>
              <a:t>básica</a:t>
            </a:r>
            <a:r>
              <a:rPr dirty="0"/>
              <a:t> de la </a:t>
            </a:r>
            <a:r>
              <a:rPr dirty="0" err="1"/>
              <a:t>intimidad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Evolución</a:t>
            </a:r>
            <a:r>
              <a:rPr dirty="0"/>
              <a:t> de la </a:t>
            </a:r>
            <a:r>
              <a:rPr dirty="0" err="1"/>
              <a:t>legislación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protección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personales</a:t>
            </a:r>
            <a:r>
              <a:rPr lang="es-ES" dirty="0"/>
              <a:t>:</a:t>
            </a:r>
            <a:endParaRPr dirty="0"/>
          </a:p>
          <a:p>
            <a:pPr lvl="1">
              <a:defRPr sz="1800"/>
            </a:pPr>
            <a:r>
              <a:rPr dirty="0"/>
              <a:t>LORTAD (1992)</a:t>
            </a:r>
          </a:p>
          <a:p>
            <a:pPr lvl="1">
              <a:defRPr sz="1800"/>
            </a:pPr>
            <a:r>
              <a:rPr dirty="0" err="1"/>
              <a:t>Directiva</a:t>
            </a:r>
            <a:r>
              <a:rPr dirty="0"/>
              <a:t> 95/46/CE (</a:t>
            </a:r>
            <a:r>
              <a:rPr dirty="0" err="1"/>
              <a:t>tratamiento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personales</a:t>
            </a:r>
            <a:r>
              <a:rPr dirty="0"/>
              <a:t> y </a:t>
            </a:r>
            <a:r>
              <a:rPr dirty="0" err="1"/>
              <a:t>su</a:t>
            </a:r>
            <a:r>
              <a:rPr dirty="0"/>
              <a:t> libre </a:t>
            </a:r>
            <a:r>
              <a:rPr dirty="0" err="1"/>
              <a:t>circulación</a:t>
            </a:r>
            <a:r>
              <a:rPr dirty="0"/>
              <a:t>)</a:t>
            </a:r>
          </a:p>
          <a:p>
            <a:pPr lvl="1">
              <a:defRPr sz="1800"/>
            </a:pPr>
            <a:r>
              <a:rPr dirty="0"/>
              <a:t>LOPD (1999) Y </a:t>
            </a:r>
            <a:r>
              <a:rPr dirty="0" err="1"/>
              <a:t>Reglamento</a:t>
            </a:r>
            <a:r>
              <a:rPr dirty="0"/>
              <a:t> de </a:t>
            </a:r>
            <a:r>
              <a:rPr dirty="0" err="1"/>
              <a:t>desarrollo</a:t>
            </a:r>
            <a:r>
              <a:rPr dirty="0"/>
              <a:t> (2007)</a:t>
            </a:r>
          </a:p>
          <a:p>
            <a:pPr lvl="1">
              <a:defRPr sz="1800"/>
            </a:pPr>
            <a:r>
              <a:rPr dirty="0"/>
              <a:t>RGPD (2016)</a:t>
            </a:r>
          </a:p>
          <a:p>
            <a:pPr lvl="1">
              <a:defRPr sz="1800"/>
            </a:pPr>
            <a:r>
              <a:rPr dirty="0"/>
              <a:t>LOPDGDD (2018)</a:t>
            </a:r>
          </a:p>
          <a:p>
            <a:pPr>
              <a:defRPr sz="1800"/>
            </a:pPr>
            <a:r>
              <a:rPr dirty="0"/>
              <a:t>RIA (2024)</a:t>
            </a:r>
          </a:p>
          <a:p>
            <a:pPr marL="0" indent="0">
              <a:buNone/>
              <a:defRPr sz="1800"/>
            </a:pPr>
            <a:endParaRPr lang="es-ES" dirty="0"/>
          </a:p>
          <a:p>
            <a:pPr marL="0" indent="0">
              <a:buNone/>
              <a:defRPr sz="1800"/>
            </a:pPr>
            <a:r>
              <a:rPr dirty="0"/>
              <a:t>La </a:t>
            </a:r>
            <a:r>
              <a:rPr dirty="0" err="1"/>
              <a:t>legislación</a:t>
            </a:r>
            <a:r>
              <a:rPr dirty="0"/>
              <a:t> </a:t>
            </a:r>
            <a:r>
              <a:rPr dirty="0" err="1"/>
              <a:t>avanza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la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vuela</a:t>
            </a:r>
            <a:r>
              <a:rPr dirty="0"/>
              <a:t>. El </a:t>
            </a:r>
            <a:r>
              <a:rPr dirty="0" err="1"/>
              <a:t>Reglamento</a:t>
            </a:r>
            <a:r>
              <a:rPr dirty="0"/>
              <a:t> de IA </a:t>
            </a:r>
            <a:r>
              <a:rPr dirty="0" err="1"/>
              <a:t>establece</a:t>
            </a:r>
            <a:r>
              <a:rPr dirty="0"/>
              <a:t> las </a:t>
            </a:r>
            <a:r>
              <a:rPr dirty="0" err="1"/>
              <a:t>reglas</a:t>
            </a:r>
            <a:r>
              <a:rPr dirty="0"/>
              <a:t> del juego, </a:t>
            </a:r>
            <a:r>
              <a:rPr dirty="0" err="1"/>
              <a:t>pero</a:t>
            </a:r>
            <a:r>
              <a:rPr dirty="0"/>
              <a:t> la </a:t>
            </a:r>
            <a:r>
              <a:rPr dirty="0" err="1"/>
              <a:t>interpretación</a:t>
            </a:r>
            <a:r>
              <a:rPr dirty="0"/>
              <a:t>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recaerá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tribunales</a:t>
            </a:r>
            <a:r>
              <a:rPr dirty="0"/>
              <a:t> y es </a:t>
            </a:r>
            <a:r>
              <a:rPr dirty="0" err="1"/>
              <a:t>necesaria</a:t>
            </a:r>
            <a:r>
              <a:rPr dirty="0"/>
              <a:t> la </a:t>
            </a:r>
            <a:r>
              <a:rPr dirty="0" err="1"/>
              <a:t>jurisprudencia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sirva</a:t>
            </a:r>
            <a:r>
              <a:rPr dirty="0"/>
              <a:t> de </a:t>
            </a:r>
            <a:r>
              <a:rPr dirty="0" err="1"/>
              <a:t>puente</a:t>
            </a:r>
            <a:r>
              <a:rPr dirty="0"/>
              <a:t> entre la ley </a:t>
            </a:r>
            <a:r>
              <a:rPr dirty="0" err="1"/>
              <a:t>escrita</a:t>
            </a:r>
            <a:r>
              <a:rPr dirty="0"/>
              <a:t> y la </a:t>
            </a:r>
            <a:r>
              <a:rPr dirty="0" err="1"/>
              <a:t>realidad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mapa jurisprudencial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Tribunal Supremo / Audiencia Nacional: Transparencia administrativa, auditoría algorítmica</a:t>
            </a:r>
          </a:p>
          <a:p>
            <a:pPr>
              <a:defRPr sz="1800"/>
            </a:pPr>
            <a:r>
              <a:t>Tribunal constitucional: Límites de los derechos fundamentales, protección frente al perfilado masivo y extracción de datos sin consentimiento</a:t>
            </a:r>
          </a:p>
          <a:p>
            <a:pPr>
              <a:defRPr sz="1800"/>
            </a:pPr>
            <a:r>
              <a:t>Tribunal de Justicia de la UE: Armonización europea, derechos del consumidor y explicabilidad. Derecho a comprender decisiones automatizadas.</a:t>
            </a:r>
          </a:p>
          <a:p>
            <a:pPr>
              <a:defRPr sz="1800"/>
            </a:pPr>
            <a:r>
              <a:t>Tribunal Europeo de Derechos Humanos: Riesgos extremos para la democracia, vigilancia biométrica masiva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217A2-7B7D-2CD8-CA9A-E1C97D58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C461-CBB9-75DA-64AF-74FFDC06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transparencia algorítmica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3FB5-9FE2-1EEB-6092-11A269AB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oscuridad</a:t>
            </a:r>
            <a:r>
              <a:rPr dirty="0"/>
              <a:t> (SAN 5981/2024): </a:t>
            </a:r>
            <a:r>
              <a:rPr dirty="0" err="1"/>
              <a:t>Acceso</a:t>
            </a:r>
            <a:r>
              <a:rPr dirty="0"/>
              <a:t> al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de la </a:t>
            </a:r>
            <a:r>
              <a:rPr dirty="0" err="1"/>
              <a:t>aplicación</a:t>
            </a:r>
            <a:r>
              <a:rPr dirty="0"/>
              <a:t> para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sorteos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oposiciones</a:t>
            </a:r>
            <a:r>
              <a:rPr dirty="0"/>
              <a:t> de la Comunidad de Madrid. El Consejo de </a:t>
            </a:r>
            <a:r>
              <a:rPr dirty="0" err="1"/>
              <a:t>Transparencia</a:t>
            </a:r>
            <a:r>
              <a:rPr dirty="0"/>
              <a:t> </a:t>
            </a:r>
            <a:r>
              <a:rPr dirty="0" err="1"/>
              <a:t>obliga</a:t>
            </a:r>
            <a:r>
              <a:rPr dirty="0"/>
              <a:t> a la Comunidad de Madrid a </a:t>
            </a:r>
            <a:r>
              <a:rPr dirty="0" err="1"/>
              <a:t>proporcionar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y </a:t>
            </a:r>
            <a:r>
              <a:rPr dirty="0" err="1"/>
              <a:t>ésta</a:t>
            </a:r>
            <a:r>
              <a:rPr dirty="0"/>
              <a:t> se </a:t>
            </a:r>
            <a:r>
              <a:rPr dirty="0" err="1"/>
              <a:t>niega</a:t>
            </a:r>
            <a:r>
              <a:rPr dirty="0"/>
              <a:t> </a:t>
            </a:r>
            <a:r>
              <a:rPr dirty="0" err="1"/>
              <a:t>alegando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posibles</a:t>
            </a:r>
            <a:r>
              <a:rPr dirty="0"/>
              <a:t> </a:t>
            </a:r>
            <a:r>
              <a:rPr dirty="0" err="1"/>
              <a:t>intentos</a:t>
            </a:r>
            <a:r>
              <a:rPr dirty="0"/>
              <a:t> de </a:t>
            </a:r>
            <a:r>
              <a:rPr dirty="0" err="1"/>
              <a:t>hackeo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Caso BOSCO (TS): CIVIO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y </a:t>
            </a:r>
            <a:r>
              <a:rPr dirty="0" err="1"/>
              <a:t>descripción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del </a:t>
            </a:r>
            <a:r>
              <a:rPr dirty="0" err="1"/>
              <a:t>algoritmo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regula</a:t>
            </a:r>
            <a:r>
              <a:rPr dirty="0"/>
              <a:t> la </a:t>
            </a:r>
            <a:r>
              <a:rPr dirty="0" err="1"/>
              <a:t>concesión</a:t>
            </a:r>
            <a:r>
              <a:rPr dirty="0"/>
              <a:t> de </a:t>
            </a:r>
            <a:r>
              <a:rPr dirty="0" err="1"/>
              <a:t>ayudas</a:t>
            </a:r>
            <a:r>
              <a:rPr dirty="0"/>
              <a:t> del bono social </a:t>
            </a:r>
            <a:r>
              <a:rPr dirty="0" err="1"/>
              <a:t>térmico</a:t>
            </a:r>
            <a:r>
              <a:rPr dirty="0"/>
              <a:t>. El TS </a:t>
            </a:r>
            <a:r>
              <a:rPr dirty="0" err="1"/>
              <a:t>obliga</a:t>
            </a:r>
            <a:r>
              <a:rPr dirty="0"/>
              <a:t> a </a:t>
            </a:r>
            <a:r>
              <a:rPr dirty="0" err="1"/>
              <a:t>proporcionar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a la Fundación CIVICO.</a:t>
            </a:r>
          </a:p>
          <a:p>
            <a:pPr lvl="1">
              <a:defRPr sz="1800"/>
            </a:pPr>
            <a:r>
              <a:rPr dirty="0"/>
              <a:t>Cambio de </a:t>
            </a:r>
            <a:r>
              <a:rPr dirty="0" err="1"/>
              <a:t>opinión</a:t>
            </a:r>
            <a:r>
              <a:rPr dirty="0"/>
              <a:t> del CTBG</a:t>
            </a:r>
          </a:p>
          <a:p>
            <a:pPr lvl="1">
              <a:defRPr sz="1800"/>
            </a:pPr>
            <a:r>
              <a:rPr dirty="0" err="1"/>
              <a:t>Sienta</a:t>
            </a:r>
            <a:r>
              <a:rPr dirty="0"/>
              <a:t> </a:t>
            </a:r>
            <a:r>
              <a:rPr dirty="0" err="1"/>
              <a:t>doctrina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TS, </a:t>
            </a:r>
            <a:r>
              <a:rPr dirty="0" err="1"/>
              <a:t>pero</a:t>
            </a:r>
            <a:r>
              <a:rPr dirty="0"/>
              <a:t> con </a:t>
            </a:r>
            <a:r>
              <a:rPr dirty="0" err="1"/>
              <a:t>matices</a:t>
            </a:r>
            <a:endParaRPr dirty="0"/>
          </a:p>
          <a:p>
            <a:pPr>
              <a:defRPr sz="1800"/>
            </a:pPr>
            <a:r>
              <a:rPr dirty="0"/>
              <a:t>Caso C-203/22 (Scoring </a:t>
            </a:r>
            <a:r>
              <a:rPr dirty="0" err="1"/>
              <a:t>crediticio</a:t>
            </a:r>
            <a:r>
              <a:rPr dirty="0"/>
              <a:t> – TJUE): La </a:t>
            </a:r>
            <a:r>
              <a:rPr dirty="0" err="1"/>
              <a:t>ciudadanía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derecho a </a:t>
            </a:r>
            <a:r>
              <a:rPr dirty="0" err="1"/>
              <a:t>recibir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significativa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toman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afecten</a:t>
            </a:r>
            <a:r>
              <a:rPr dirty="0"/>
              <a:t> y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impugnarlas</a:t>
            </a:r>
            <a:r>
              <a:rPr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D9BF1-DF49-34FC-B853-F00977A6B4A3}"/>
              </a:ext>
            </a:extLst>
          </p:cNvPr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0836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transparencia algorítmica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El </a:t>
            </a:r>
            <a:r>
              <a:rPr dirty="0" err="1"/>
              <a:t>caso</a:t>
            </a:r>
            <a:r>
              <a:rPr dirty="0"/>
              <a:t> ideal: </a:t>
            </a:r>
            <a:r>
              <a:rPr dirty="0" err="1"/>
              <a:t>entrega</a:t>
            </a:r>
            <a:r>
              <a:rPr dirty="0"/>
              <a:t> de </a:t>
            </a:r>
            <a:r>
              <a:rPr dirty="0" err="1"/>
              <a:t>pseudocódigo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entrenamiento</a:t>
            </a:r>
            <a:r>
              <a:rPr dirty="0"/>
              <a:t> y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diseño</a:t>
            </a:r>
            <a:endParaRPr dirty="0"/>
          </a:p>
          <a:p>
            <a:pPr>
              <a:defRPr sz="1800"/>
            </a:pPr>
            <a:r>
              <a:rPr dirty="0"/>
              <a:t>El </a:t>
            </a:r>
            <a:r>
              <a:rPr dirty="0" err="1"/>
              <a:t>caso</a:t>
            </a:r>
            <a:r>
              <a:rPr dirty="0"/>
              <a:t> real: Esto no basta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ciudadano</a:t>
            </a:r>
            <a:r>
              <a:rPr dirty="0"/>
              <a:t> </a:t>
            </a:r>
            <a:r>
              <a:rPr dirty="0" err="1"/>
              <a:t>común</a:t>
            </a:r>
            <a:r>
              <a:rPr dirty="0"/>
              <a:t>. Mejor </a:t>
            </a:r>
            <a:r>
              <a:rPr dirty="0" err="1"/>
              <a:t>ofrecer</a:t>
            </a:r>
            <a:r>
              <a:rPr dirty="0"/>
              <a:t> </a:t>
            </a:r>
            <a:r>
              <a:rPr dirty="0" err="1"/>
              <a:t>descripciones</a:t>
            </a:r>
            <a:r>
              <a:rPr dirty="0"/>
              <a:t> </a:t>
            </a:r>
            <a:r>
              <a:rPr dirty="0" err="1"/>
              <a:t>funcionales</a:t>
            </a:r>
            <a:r>
              <a:rPr dirty="0"/>
              <a:t> </a:t>
            </a:r>
            <a:r>
              <a:rPr dirty="0" err="1"/>
              <a:t>claras</a:t>
            </a:r>
            <a:r>
              <a:rPr dirty="0"/>
              <a:t> y,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quien</a:t>
            </a:r>
            <a:r>
              <a:rPr dirty="0"/>
              <a:t> lo </a:t>
            </a:r>
            <a:r>
              <a:rPr dirty="0" err="1"/>
              <a:t>pide</a:t>
            </a:r>
            <a:r>
              <a:rPr dirty="0"/>
              <a:t> dispone de </a:t>
            </a:r>
            <a:r>
              <a:rPr dirty="0" err="1"/>
              <a:t>competencias</a:t>
            </a:r>
            <a:r>
              <a:rPr dirty="0"/>
              <a:t> </a:t>
            </a:r>
            <a:r>
              <a:rPr dirty="0" err="1"/>
              <a:t>suficientes</a:t>
            </a:r>
            <a:r>
              <a:rPr dirty="0"/>
              <a:t>, </a:t>
            </a:r>
            <a:r>
              <a:rPr dirty="0" err="1"/>
              <a:t>ampliar</a:t>
            </a:r>
            <a:r>
              <a:rPr dirty="0"/>
              <a:t> con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(</a:t>
            </a:r>
            <a:r>
              <a:rPr dirty="0" err="1"/>
              <a:t>auditoría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real).</a:t>
            </a:r>
          </a:p>
          <a:p>
            <a:pPr marL="0" indent="0">
              <a:buNone/>
              <a:defRPr sz="1800"/>
            </a:pPr>
            <a:endParaRPr lang="es-ES" dirty="0"/>
          </a:p>
          <a:p>
            <a:pPr marL="0" indent="0">
              <a:buNone/>
              <a:defRPr sz="1800"/>
            </a:pPr>
            <a:r>
              <a:rPr dirty="0"/>
              <a:t>La </a:t>
            </a:r>
            <a:r>
              <a:rPr dirty="0" err="1"/>
              <a:t>jurisprudencia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y </a:t>
            </a:r>
            <a:r>
              <a:rPr dirty="0" err="1"/>
              <a:t>europea</a:t>
            </a:r>
            <a:r>
              <a:rPr dirty="0"/>
              <a:t> converge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rechazo</a:t>
            </a:r>
            <a:r>
              <a:rPr dirty="0"/>
              <a:t> </a:t>
            </a:r>
            <a:r>
              <a:rPr dirty="0" err="1"/>
              <a:t>absoluto</a:t>
            </a:r>
            <a:r>
              <a:rPr dirty="0"/>
              <a:t> a las “</a:t>
            </a:r>
            <a:r>
              <a:rPr dirty="0" err="1"/>
              <a:t>cajas</a:t>
            </a:r>
            <a:r>
              <a:rPr dirty="0"/>
              <a:t> </a:t>
            </a:r>
            <a:r>
              <a:rPr dirty="0" err="1"/>
              <a:t>negras</a:t>
            </a:r>
            <a:r>
              <a:rPr dirty="0"/>
              <a:t>” sin </a:t>
            </a:r>
            <a:r>
              <a:rPr dirty="0" err="1"/>
              <a:t>vías</a:t>
            </a:r>
            <a:r>
              <a:rPr dirty="0"/>
              <a:t> de </a:t>
            </a:r>
            <a:r>
              <a:rPr dirty="0" err="1"/>
              <a:t>auditoría</a:t>
            </a:r>
            <a:r>
              <a:rPr dirty="0"/>
              <a:t> </a:t>
            </a:r>
            <a:r>
              <a:rPr dirty="0" err="1"/>
              <a:t>ciudadana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Tribunal Constitucional y la barrera contra el perfilado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Entrenamiento sin consentimiento: STC 292/2000 prohíbe a las AAPP usar los datos de la ciudadanía para entrenar modelos sin base legal</a:t>
            </a:r>
          </a:p>
          <a:p>
            <a:pPr>
              <a:defRPr sz="1800"/>
            </a:pPr>
            <a:r>
              <a:t>Perfilado masivo: STC 76/2019 prohíbe el perfilado ideológico de la ciudadanía por interés legítimo de los partidos políticos Modificación de la LOPDGDD. Intención paralela al caso Cambridge Analytica</a:t>
            </a:r>
          </a:p>
          <a:p>
            <a:pPr>
              <a:defRPr sz="1800"/>
            </a:pPr>
            <a:r>
              <a:t>Desconocimiento del funcionamiento del algoritmo: STC 147/2023 (Ley Riders) Derecho de los empleados a conocer exactamente cómo se calcula su desempeño laboral.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TDEH: Riesgos extremos para la democracia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Glukhin v. Rusia (2023): El uso indiscriminado de identificación biométrica en tiempo real contra manifestantes no supone una necesidad social imperiosa y viola derechos fundamentales</a:t>
            </a:r>
          </a:p>
          <a:p>
            <a:pPr>
              <a:defRPr sz="1800"/>
            </a:pPr>
            <a:r>
              <a:t>Georgescu v. Rumanía (2024): Anulación de elecciones presidenciales por el uso opaco y desinformación introducida por IA generativa para manipular votantes.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aplica la jurisprudencia a las universidades?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Riesgo de perfilado biométrico o social: Asignaciones de becas o admisiones mediante algoritmos opacos</a:t>
            </a:r>
          </a:p>
          <a:p>
            <a:pPr>
              <a:defRPr sz="1800"/>
            </a:pPr>
            <a:r>
              <a:t>Evaluación laboral: Medir la evaluación laboral docente sin explicar los parámetros</a:t>
            </a:r>
          </a:p>
          <a:p>
            <a:pPr>
              <a:defRPr sz="1800"/>
            </a:pPr>
            <a:r>
              <a:t>Vigilancia biométrica: uso masivo de sistemas de proctoring sin garantías</a:t>
            </a:r>
          </a:p>
          <a:p>
            <a:pPr>
              <a:defRPr sz="1800"/>
            </a:pPr>
            <a:r>
              <a:t>Entrenamiento sin consentimiento: ingestar datos de la comunidad universitaria sin tener base legítima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aplica la jurisprudencia a las universidades?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Prohibición de sistemas de caja negra. Toda IA debe proveer información significativa de su lógica y variables de funcionamiento.</a:t>
            </a:r>
          </a:p>
          <a:p>
            <a:pPr>
              <a:defRPr sz="1800"/>
            </a:pPr>
            <a:r>
              <a:t>Los datos generados por la comunidad unviersitaria no pueden usarse para entrenar modelos sin tener una base legal clara</a:t>
            </a:r>
          </a:p>
          <a:p>
            <a:pPr>
              <a:defRPr sz="1800"/>
            </a:pPr>
            <a:r>
              <a:t>Las decisiones automatizadas de alto impacto requieren una supervisión humana obligatoria y un canal directo de impugnación.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La tecnología siempre avanza más rápido que la legislación, pero la jurisprudencia proporciona el ancla ética y legal necesaria.</a:t>
            </a:r>
          </a:p>
          <a:p>
            <a:pPr>
              <a:defRPr sz="1800"/>
            </a:pPr>
            <a:r>
              <a:t>Se pasa del oscurantismo algorítmico a la exigencia absoluta de explicabilidad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32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1263</Words>
  <Application>Microsoft Office PowerPoint</Application>
  <PresentationFormat>Presentación en pantalla (4:3)</PresentationFormat>
  <Paragraphs>90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Impacto de la IA en la Privacidad y los derechos fundamentales</vt:lpstr>
      <vt:lpstr>Objetivo Principal</vt:lpstr>
      <vt:lpstr>Metodología</vt:lpstr>
      <vt:lpstr>Introducción a la Inteligencia Artificial (IA)</vt:lpstr>
      <vt:lpstr>El conflicto principal: eficiencia contra opacidad</vt:lpstr>
      <vt:lpstr>El problema por abordar</vt:lpstr>
      <vt:lpstr>Evolución normativa</vt:lpstr>
      <vt:lpstr>El mapa jurisprudencial</vt:lpstr>
      <vt:lpstr>La transparencia algorítmica</vt:lpstr>
      <vt:lpstr>La transparencia algorítmica</vt:lpstr>
      <vt:lpstr>El Tribunal Constitucional y la barrera contra el perfilado</vt:lpstr>
      <vt:lpstr>TDEH: Riesgos extremos para la democracia</vt:lpstr>
      <vt:lpstr>¿Cómo aplica la jurisprudencia a las universidades?</vt:lpstr>
      <vt:lpstr>¿Cómo aplica la jurisprudencia a las universidades?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Traver Ardura</cp:lastModifiedBy>
  <cp:revision>2</cp:revision>
  <dcterms:created xsi:type="dcterms:W3CDTF">2013-01-27T09:14:16Z</dcterms:created>
  <dcterms:modified xsi:type="dcterms:W3CDTF">2026-03-25T12:29:09Z</dcterms:modified>
  <cp:category/>
</cp:coreProperties>
</file>